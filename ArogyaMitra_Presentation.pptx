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217920" y="-548640"/>
            <a:ext cx="3474720" cy="347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>
                <a:alpha val="4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D4ED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PROJECT  •  ANDROID APPLICATION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Arogya Mitra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548640" y="19933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Medicine Portal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292608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E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Traditional Ayurvedic Wisdom with Modern AI Technology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0050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by: Vibhu et 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Android (Java)   •   AI: TensorFlow Lite   •   Backend: Firebase   •   Version: 1.0   • 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Arogya Mitra need to exist?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1078992"/>
          </a:xfrm>
          <a:prstGeom prst="rect">
            <a:avLst/>
          </a:prstGeom>
          <a:solidFill>
            <a:srgbClr val="E8F5E2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3560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34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Traditional Knowledge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159105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medicinal plant knowledge from North-East India is passed down orally. With each generation, critical information about plant identification, preparation, and uses is permanently lost.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2395728"/>
            <a:ext cx="8503920" cy="1078992"/>
          </a:xfrm>
          <a:prstGeom prst="rect">
            <a:avLst/>
          </a:prstGeom>
          <a:solidFill>
            <a:srgbClr val="FFF8E1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1576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514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Accessible Digital Repository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97280" y="287121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and learners lack a unified, searchable database of indigenous drugs. Existing resources are scattered across textbooks, not optimised for mobile access.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" y="3675888"/>
            <a:ext cx="8503920" cy="1078992"/>
          </a:xfrm>
          <a:prstGeom prst="rect">
            <a:avLst/>
          </a:prstGeom>
          <a:solidFill>
            <a:srgbClr val="E8EA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9592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794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 Contribution Pipeline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97280" y="415137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communities hold valuable regional knowledge that is never captured. There is no peer-validated mechanism for community members to contribute and verify new drug entries.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goals driving the application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6052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416052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23444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207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Leaf Identification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173736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users to photograph a leaf and instantly identify the medicinal plant using an on-device TFLite CNN model — no internet required for inference.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051560"/>
            <a:ext cx="416052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051560"/>
            <a:ext cx="416052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23444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207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Drug Database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10328" y="173736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searchable, Firebase-backed database of 31+ indigenous plant species with scientific names, medicinal uses, and preparation methods.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2743200"/>
            <a:ext cx="416052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2743200"/>
            <a:ext cx="416052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92608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28986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Submission &amp; Validation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1208" y="342900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community members to submit new drug entries, which undergo an admin peer-review pipeline before being published to the live database.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2743200"/>
            <a:ext cx="416052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09160" y="2743200"/>
            <a:ext cx="4160520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92608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89864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Accessibility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910328" y="3429000"/>
            <a:ext cx="38130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North-East Indian users in English and Assamese (অসমীয়া) with dynamic runtime locale switching via LanguageManager.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languages, and frameworks used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103120" cy="292608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6002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5544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20848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Hedgehog / Iguana IDE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606040" y="118872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1188720"/>
            <a:ext cx="2103120" cy="292608"/>
          </a:xfrm>
          <a:prstGeom prst="rect">
            <a:avLst/>
          </a:prstGeom>
          <a:solidFill>
            <a:srgbClr val="F89820"/>
          </a:solidFill>
          <a:ln w="12700">
            <a:solidFill>
              <a:srgbClr val="F8982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60020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9544" y="15544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715768" y="20848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language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92040" y="118872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92040" y="1188720"/>
            <a:ext cx="2103120" cy="292608"/>
          </a:xfrm>
          <a:prstGeom prst="rect">
            <a:avLst/>
          </a:prstGeom>
          <a:solidFill>
            <a:srgbClr val="7F52FF"/>
          </a:solidFill>
          <a:ln w="12700">
            <a:solidFill>
              <a:srgbClr val="7F52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60020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95544" y="15544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DSL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01768" y="20848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build scripts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7178040" y="118872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178040" y="1188720"/>
            <a:ext cx="2103120" cy="292608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160020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81544" y="155448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287768" y="208483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v2.16.1 — On-device AI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" y="292608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" y="2926080"/>
            <a:ext cx="2103120" cy="292608"/>
          </a:xfrm>
          <a:prstGeom prst="rect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337560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3544" y="32918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29768" y="38221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Google OAuth 2.0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606040" y="292608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606040" y="2926080"/>
            <a:ext cx="2103120" cy="292608"/>
          </a:xfrm>
          <a:prstGeom prst="rect">
            <a:avLst/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68" y="3337560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209544" y="32918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2715768" y="38221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JSON tree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892040" y="292608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892040" y="2926080"/>
            <a:ext cx="210312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768" y="3337560"/>
            <a:ext cx="384048" cy="38404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95544" y="32918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001768" y="38221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&amp; media files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7178040" y="2926080"/>
            <a:ext cx="2103120" cy="1572768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178040" y="2926080"/>
            <a:ext cx="2103120" cy="2926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7768" y="3337560"/>
            <a:ext cx="384048" cy="38404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781544" y="3291840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Binding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7287768" y="38221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view access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design: Public → Prediction → Admin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078992"/>
            <a:ext cx="4389120" cy="11155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1704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Public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1536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Plant / Drug Database browsing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755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&amp; filter medicines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9751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UI (EN / Assamese)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80944" y="2231136"/>
            <a:ext cx="73152" cy="201168"/>
          </a:xfrm>
          <a:prstGeom prst="rect">
            <a:avLst/>
          </a:prstGeom>
          <a:solidFill>
            <a:srgbClr val="6B9E3B"/>
          </a:solidFill>
          <a:ln w="12700">
            <a:solidFill>
              <a:srgbClr val="6B9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359152"/>
            <a:ext cx="182880" cy="182880"/>
          </a:xfrm>
          <a:prstGeom prst="ellipse">
            <a:avLst/>
          </a:prstGeom>
          <a:solidFill>
            <a:srgbClr val="6B9E3B"/>
          </a:solidFill>
          <a:ln w="12700">
            <a:solidFill>
              <a:srgbClr val="6B9E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596896"/>
            <a:ext cx="4389120" cy="11155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7552" y="26883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AI Prediction Layer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30540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Leaf photo → TFLite CNN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87552" y="3273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31 species, on-device inference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3493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 500 ms response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80944" y="3749040"/>
            <a:ext cx="73152" cy="201168"/>
          </a:xfrm>
          <a:prstGeom prst="rect">
            <a:avLst/>
          </a:prstGeom>
          <a:solidFill>
            <a:srgbClr val="6B9E3B"/>
          </a:solidFill>
          <a:ln w="12700">
            <a:solidFill>
              <a:srgbClr val="6B9E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877056"/>
            <a:ext cx="182880" cy="182880"/>
          </a:xfrm>
          <a:prstGeom prst="ellipse">
            <a:avLst/>
          </a:prstGeom>
          <a:solidFill>
            <a:srgbClr val="6B9E3B"/>
          </a:solidFill>
          <a:ln w="12700">
            <a:solidFill>
              <a:srgbClr val="6B9E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114800"/>
            <a:ext cx="4389120" cy="11155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7552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Admin / Backend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572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Drug submission validation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87552" y="47914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management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5010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Subscription control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1078992"/>
            <a:ext cx="3154680" cy="4151376"/>
          </a:xfrm>
          <a:prstGeom prst="rect">
            <a:avLst/>
          </a:prstGeom>
          <a:solidFill>
            <a:srgbClr val="FFF8E1"/>
          </a:solidFill>
          <a:ln w="19050">
            <a:solidFill>
              <a:srgbClr val="FFCA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06440" y="1207008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Backend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Firebase Authentication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5283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Realtime Database (JSON)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3429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 Cloud Storage (media)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43296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Firebase Analytics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12080" y="1636776"/>
            <a:ext cx="457200" cy="27432"/>
          </a:xfrm>
          <a:prstGeom prst="rect">
            <a:avLst/>
          </a:prstGeom>
          <a:solidFill>
            <a:srgbClr val="C5D9BF"/>
          </a:solidFill>
          <a:ln w="12700">
            <a:solidFill>
              <a:srgbClr val="C5D9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3154680"/>
            <a:ext cx="457200" cy="27432"/>
          </a:xfrm>
          <a:prstGeom prst="rect">
            <a:avLst/>
          </a:prstGeom>
          <a:solidFill>
            <a:srgbClr val="C5D9BF"/>
          </a:solidFill>
          <a:ln w="12700">
            <a:solidFill>
              <a:srgbClr val="C5D9B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657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1280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Module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7160" y="17190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Prediction Engine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170432" y="2395728"/>
            <a:ext cx="18288" cy="2468880"/>
          </a:xfrm>
          <a:prstGeom prst="rect">
            <a:avLst/>
          </a:prstGeom>
          <a:solidFill>
            <a:srgbClr val="4A8C4B"/>
          </a:solidFill>
          <a:ln w="12700">
            <a:solidFill>
              <a:srgbClr val="4A8C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4592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243584" y="24231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2.16.1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64592" y="2843784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43584" y="2843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× 150 px RGB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64592" y="3264408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243584" y="32644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/ 31 classes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64592" y="368503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Threads: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243584" y="3685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CPU (parallel)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64592" y="410565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243584" y="410565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64592" y="452628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243584" y="4526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85–95% (top-1)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383280" y="201168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Pipeline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3383280" y="804672"/>
            <a:ext cx="54864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93008" y="923544"/>
            <a:ext cx="347472" cy="347472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93008" y="923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77640" y="92354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/ Select Leaf Image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383280" y="1490472"/>
            <a:ext cx="5486400" cy="594360"/>
          </a:xfrm>
          <a:prstGeom prst="rect">
            <a:avLst/>
          </a:prstGeom>
          <a:solidFill>
            <a:srgbClr val="1B7A4A"/>
          </a:solidFill>
          <a:ln w="12700">
            <a:solidFill>
              <a:srgbClr val="1B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93008" y="1609344"/>
            <a:ext cx="347472" cy="347472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93008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977640" y="160934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Bitmap to 150 × 150 px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383280" y="2176272"/>
            <a:ext cx="5486400" cy="5943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493008" y="2295144"/>
            <a:ext cx="347472" cy="347472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493008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977640" y="229514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pixels ÷ 255 → [0.0, 1.0]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383280" y="2862072"/>
            <a:ext cx="5486400" cy="59436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493008" y="2980944"/>
            <a:ext cx="347472" cy="347472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93008" y="2980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977640" y="298094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ByteBuffer → TFLite Interpreter (4 threads)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383280" y="3547872"/>
            <a:ext cx="5486400" cy="59436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493008" y="3666744"/>
            <a:ext cx="347472" cy="347472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493008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977640" y="366674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→ ArgMax → Top class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3383280" y="4233672"/>
            <a:ext cx="5486400" cy="594360"/>
          </a:xfrm>
          <a:prstGeom prst="rect">
            <a:avLst/>
          </a:prstGeom>
          <a:solidFill>
            <a:srgbClr val="0D6E2A"/>
          </a:solidFill>
          <a:ln w="12700">
            <a:solidFill>
              <a:srgbClr val="0D6E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493008" y="4352544"/>
            <a:ext cx="347472" cy="347472"/>
          </a:xfrm>
          <a:prstGeom prst="ellipse">
            <a:avLst/>
          </a:prstGeom>
          <a:solidFill>
            <a:srgbClr val="E6A817"/>
          </a:solidFill>
          <a:ln w="12700">
            <a:solidFill>
              <a:srgbClr val="E6A81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493008" y="4352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3977640" y="4352544"/>
            <a:ext cx="4773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Plant Name + Confidence 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Backend (BaaS)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server — all managed by Google Firebase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627632"/>
          </a:xfrm>
          <a:prstGeom prst="rect">
            <a:avLst/>
          </a:prstGeom>
          <a:solidFill>
            <a:srgbClr val="FFF3E0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73152"/>
          </a:xfrm>
          <a:prstGeom prst="rect">
            <a:avLst/>
          </a:prstGeom>
          <a:solidFill>
            <a:srgbClr val="FFCA28"/>
          </a:solidFill>
          <a:ln w="12700">
            <a:solidFill>
              <a:srgbClr val="FFCA2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6187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14984" y="12527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" y="171907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Email &amp; Password login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" y="19568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Google Sign-In (OAuth 2.0)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4632" y="219456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 user profile creation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" y="2432304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Session persistence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09160" y="1097280"/>
            <a:ext cx="4160520" cy="1627632"/>
          </a:xfrm>
          <a:prstGeom prst="rect">
            <a:avLst/>
          </a:prstGeom>
          <a:solidFill>
            <a:srgbClr val="E3F2FD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9160" y="1097280"/>
            <a:ext cx="4160520" cy="73152"/>
          </a:xfrm>
          <a:prstGeom prst="rect">
            <a:avLst/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2618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04104" y="12527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873752" y="171907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Cloud-hosted JSON tree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73752" y="1956816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drugs/ — master records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73752" y="219456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drug_to_be_validated/ — pending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73752" y="2432304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Peoples/ — user profiles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20040" y="2852928"/>
            <a:ext cx="4160520" cy="1627632"/>
          </a:xfrm>
          <a:prstGeom prst="rect">
            <a:avLst/>
          </a:prstGeom>
          <a:solidFill>
            <a:srgbClr val="E8F5E9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2852928"/>
            <a:ext cx="416052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17520"/>
            <a:ext cx="402336" cy="40233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14984" y="30083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84632" y="347472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Leaf prediction images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84632" y="3712464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Drug / plant photos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84632" y="3950208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Profile pictures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4632" y="418795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URLs stored in DB records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709160" y="2852928"/>
            <a:ext cx="4160520" cy="1627632"/>
          </a:xfrm>
          <a:prstGeom prst="rect">
            <a:avLst/>
          </a:prstGeom>
          <a:solidFill>
            <a:srgbClr val="F3E5F5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09160" y="2852928"/>
            <a:ext cx="4160520" cy="731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017520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04104" y="300837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Validation Pipeline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4873752" y="3474720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 submits → pending node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873752" y="3712464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Admin reviews in-app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873752" y="3950208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Approved → moved to drugs/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873752" y="4187952"/>
            <a:ext cx="3867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Rejected → entry deleted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App Screens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activities across 11 core screens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24912" cy="1664208"/>
          </a:xfrm>
          <a:prstGeom prst="rect">
            <a:avLst/>
          </a:prstGeom>
          <a:solidFill>
            <a:srgbClr val="E8F8F0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2491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61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1978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Leaf Scanner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1673352"/>
            <a:ext cx="2496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leaf — get plant name + confidence % in &lt; 500 ms. On-device CNN, works offline without internet.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18688" y="1051560"/>
            <a:ext cx="2724912" cy="1664208"/>
          </a:xfrm>
          <a:prstGeom prst="rect">
            <a:avLst/>
          </a:prstGeom>
          <a:solidFill>
            <a:srgbClr val="E3F2FD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1051560"/>
            <a:ext cx="272491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2161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1978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Library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355848" y="1673352"/>
            <a:ext cx="2496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RecyclerView of all plants with Glide-cached images, scientific names, and medicinal uses from Firebase.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17336" y="1051560"/>
            <a:ext cx="2724912" cy="1664208"/>
          </a:xfrm>
          <a:prstGeom prst="rect">
            <a:avLst/>
          </a:prstGeom>
          <a:solidFill>
            <a:srgbClr val="FFF8E1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17336" y="1051560"/>
            <a:ext cx="272491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2161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39128" y="119786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Submission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254496" y="1673352"/>
            <a:ext cx="2496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new drug entries via a form. Admin validates the entry before it is published to the live database.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2834640"/>
            <a:ext cx="2724912" cy="1664208"/>
          </a:xfrm>
          <a:prstGeom prst="rect">
            <a:avLst/>
          </a:prstGeom>
          <a:solidFill>
            <a:srgbClr val="F3E5F5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2834640"/>
            <a:ext cx="272491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992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832" y="29809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3456432"/>
            <a:ext cx="2496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English and Assamese (অসমীয়া) at runtime using LanguageManager locale switching.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18688" y="2834640"/>
            <a:ext cx="2724912" cy="1664208"/>
          </a:xfrm>
          <a:prstGeom prst="rect">
            <a:avLst/>
          </a:prstGeom>
          <a:solidFill>
            <a:srgbClr val="FCE4EC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18688" y="2834640"/>
            <a:ext cx="272491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99923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29809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&amp; Payment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355848" y="3456432"/>
            <a:ext cx="2496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— Free, Basic, Premium — with a mock card payment gateway and Firebase subscription update.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17336" y="2834640"/>
            <a:ext cx="2724912" cy="1664208"/>
          </a:xfrm>
          <a:prstGeom prst="rect">
            <a:avLst/>
          </a:prstGeom>
          <a:solidFill>
            <a:srgbClr val="E8EA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17336" y="2834640"/>
            <a:ext cx="2724912" cy="6400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99923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39128" y="2980944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254496" y="3456432"/>
            <a:ext cx="2496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accounts access UsersActivity to view all registered users, subscription status, and drug validation queue.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3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Project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— what was delivered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10896" y="1051560"/>
            <a:ext cx="1207008" cy="1481328"/>
          </a:xfrm>
          <a:prstGeom prst="rect">
            <a:avLst/>
          </a:prstGeom>
          <a:solidFill>
            <a:srgbClr val="2C5F2D"/>
          </a:solidFill>
          <a:ln w="1016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1612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" y="155448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10896" y="205740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(Screens)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773936" y="1051560"/>
            <a:ext cx="1207008" cy="1481328"/>
          </a:xfrm>
          <a:prstGeom prst="rect">
            <a:avLst/>
          </a:prstGeom>
          <a:solidFill>
            <a:srgbClr val="2C5F2D"/>
          </a:solidFill>
          <a:ln w="1016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704" y="116128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73936" y="155448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1773936" y="205740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236976" y="1051560"/>
            <a:ext cx="1207008" cy="1481328"/>
          </a:xfrm>
          <a:prstGeom prst="rect">
            <a:avLst/>
          </a:prstGeom>
          <a:solidFill>
            <a:srgbClr val="2C5F2D"/>
          </a:solidFill>
          <a:ln w="1016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1612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36976" y="155448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3236976" y="205740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Species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Model)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4700016" y="1051560"/>
            <a:ext cx="1207008" cy="1481328"/>
          </a:xfrm>
          <a:prstGeom prst="rect">
            <a:avLst/>
          </a:prstGeom>
          <a:solidFill>
            <a:srgbClr val="2C5F2D"/>
          </a:solidFill>
          <a:ln w="1016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116128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700016" y="155448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4700016" y="205740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6163056" y="1051560"/>
            <a:ext cx="1207008" cy="1481328"/>
          </a:xfrm>
          <a:prstGeom prst="rect">
            <a:avLst/>
          </a:prstGeom>
          <a:solidFill>
            <a:srgbClr val="2C5F2D"/>
          </a:solidFill>
          <a:ln w="1016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116128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63056" y="155448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85–95%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6163056" y="205740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Top-1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7626096" y="1051560"/>
            <a:ext cx="1207008" cy="1481328"/>
          </a:xfrm>
          <a:prstGeom prst="rect">
            <a:avLst/>
          </a:prstGeom>
          <a:solidFill>
            <a:srgbClr val="2C5F2D"/>
          </a:solidFill>
          <a:ln w="1016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1161288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26096" y="1554480"/>
            <a:ext cx="1207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7" name="Text 19"/>
          <p:cNvSpPr/>
          <p:nvPr/>
        </p:nvSpPr>
        <p:spPr>
          <a:xfrm>
            <a:off x="7626096" y="205740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850" dirty="0"/>
          </a:p>
        </p:txBody>
      </p:sp>
      <p:sp>
        <p:nvSpPr>
          <p:cNvPr id="28" name="Text 20"/>
          <p:cNvSpPr/>
          <p:nvPr/>
        </p:nvSpPr>
        <p:spPr>
          <a:xfrm>
            <a:off x="457200" y="27889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— Completed</a:t>
            </a:r>
            <a:endParaRPr lang="en-US" sz="13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218688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68096" y="3209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(Email + Google OAuth)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520440"/>
            <a:ext cx="219456" cy="21945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68096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 + Cloud Storage</a:t>
            </a:r>
            <a:endParaRPr lang="en-US" sz="10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822192"/>
            <a:ext cx="219456" cy="219456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68096" y="3813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Leaf Classifier (31 species)</a:t>
            </a:r>
            <a:endParaRPr lang="en-US" sz="10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123944"/>
            <a:ext cx="219456" cy="21945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68096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submission &amp; admin validation</a:t>
            </a:r>
            <a:endParaRPr lang="en-US" sz="10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425696"/>
            <a:ext cx="219456" cy="219456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68096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tiers + mock payment</a:t>
            </a:r>
            <a:endParaRPr lang="en-US" sz="10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727448"/>
            <a:ext cx="219456" cy="219456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68096" y="4718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(English + Assamese)</a:t>
            </a:r>
            <a:endParaRPr lang="en-US" sz="1050" dirty="0"/>
          </a:p>
        </p:txBody>
      </p:sp>
      <p:sp>
        <p:nvSpPr>
          <p:cNvPr id="41" name="Shape 27"/>
          <p:cNvSpPr/>
          <p:nvPr/>
        </p:nvSpPr>
        <p:spPr>
          <a:xfrm>
            <a:off x="5029200" y="2788920"/>
            <a:ext cx="3749040" cy="2176272"/>
          </a:xfrm>
          <a:prstGeom prst="rect">
            <a:avLst/>
          </a:prstGeom>
          <a:solidFill>
            <a:srgbClr val="0E3D0F"/>
          </a:solidFill>
          <a:ln w="1524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Text 28"/>
          <p:cNvSpPr/>
          <p:nvPr/>
        </p:nvSpPr>
        <p:spPr>
          <a:xfrm>
            <a:off x="5193792" y="2880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Build Info</a:t>
            </a:r>
            <a:endParaRPr lang="en-US" sz="1200" dirty="0"/>
          </a:p>
        </p:txBody>
      </p:sp>
      <p:sp>
        <p:nvSpPr>
          <p:cNvPr id="43" name="Text 29"/>
          <p:cNvSpPr/>
          <p:nvPr/>
        </p:nvSpPr>
        <p:spPr>
          <a:xfrm>
            <a:off x="5193792" y="32918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Type:</a:t>
            </a:r>
            <a:endParaRPr lang="en-US" sz="950" dirty="0"/>
          </a:p>
        </p:txBody>
      </p:sp>
      <p:sp>
        <p:nvSpPr>
          <p:cNvPr id="44" name="Text 30"/>
          <p:cNvSpPr/>
          <p:nvPr/>
        </p:nvSpPr>
        <p:spPr>
          <a:xfrm>
            <a:off x="6629400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950" dirty="0"/>
          </a:p>
        </p:txBody>
      </p:sp>
      <p:sp>
        <p:nvSpPr>
          <p:cNvPr id="45" name="Text 31"/>
          <p:cNvSpPr/>
          <p:nvPr/>
        </p:nvSpPr>
        <p:spPr>
          <a:xfrm>
            <a:off x="5193792" y="3611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</a:t>
            </a:r>
            <a:endParaRPr lang="en-US" sz="950" dirty="0"/>
          </a:p>
        </p:txBody>
      </p:sp>
      <p:sp>
        <p:nvSpPr>
          <p:cNvPr id="46" name="Text 32"/>
          <p:cNvSpPr/>
          <p:nvPr/>
        </p:nvSpPr>
        <p:spPr>
          <a:xfrm>
            <a:off x="662940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~311 MB (debug)</a:t>
            </a:r>
            <a:endParaRPr lang="en-US" sz="950" dirty="0"/>
          </a:p>
        </p:txBody>
      </p:sp>
      <p:sp>
        <p:nvSpPr>
          <p:cNvPr id="47" name="Text 33"/>
          <p:cNvSpPr/>
          <p:nvPr/>
        </p:nvSpPr>
        <p:spPr>
          <a:xfrm>
            <a:off x="5193792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Android:</a:t>
            </a:r>
            <a:endParaRPr lang="en-US" sz="950" dirty="0"/>
          </a:p>
        </p:txBody>
      </p:sp>
      <p:sp>
        <p:nvSpPr>
          <p:cNvPr id="48" name="Text 34"/>
          <p:cNvSpPr/>
          <p:nvPr/>
        </p:nvSpPr>
        <p:spPr>
          <a:xfrm>
            <a:off x="66294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27 (Android 8.1)</a:t>
            </a:r>
            <a:endParaRPr lang="en-US" sz="950" dirty="0"/>
          </a:p>
        </p:txBody>
      </p:sp>
      <p:sp>
        <p:nvSpPr>
          <p:cNvPr id="49" name="Text 35"/>
          <p:cNvSpPr/>
          <p:nvPr/>
        </p:nvSpPr>
        <p:spPr>
          <a:xfrm>
            <a:off x="5193792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Android:</a:t>
            </a:r>
            <a:endParaRPr lang="en-US" sz="950" dirty="0"/>
          </a:p>
        </p:txBody>
      </p:sp>
      <p:sp>
        <p:nvSpPr>
          <p:cNvPr id="50" name="Text 36"/>
          <p:cNvSpPr/>
          <p:nvPr/>
        </p:nvSpPr>
        <p:spPr>
          <a:xfrm>
            <a:off x="662940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34 (Android 14)</a:t>
            </a:r>
            <a:endParaRPr lang="en-US" sz="950" dirty="0"/>
          </a:p>
        </p:txBody>
      </p:sp>
      <p:sp>
        <p:nvSpPr>
          <p:cNvPr id="51" name="Text 37"/>
          <p:cNvSpPr/>
          <p:nvPr/>
        </p:nvSpPr>
        <p:spPr>
          <a:xfrm>
            <a:off x="5193792" y="45720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Date:</a:t>
            </a:r>
            <a:endParaRPr lang="en-US" sz="950" dirty="0"/>
          </a:p>
        </p:txBody>
      </p:sp>
      <p:sp>
        <p:nvSpPr>
          <p:cNvPr id="52" name="Text 38"/>
          <p:cNvSpPr/>
          <p:nvPr/>
        </p:nvSpPr>
        <p:spPr>
          <a:xfrm>
            <a:off x="662940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23, 2026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for the next phase of development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724912" cy="1627632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9786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97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6696" y="1216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2496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precision, recall, F1-score and confusion matrix from the Python training notebook for all 31 classes.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051560"/>
            <a:ext cx="2724912" cy="1627632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19786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197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95344" y="1216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APK 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709928"/>
            <a:ext cx="2496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ProGuard / R8 code shrinking to reduce the APK from ~311 MB to an estimated 40–60 MB.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17336" y="1051560"/>
            <a:ext cx="2724912" cy="1627632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19786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197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3992" y="12161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Plant Database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4496" y="1709928"/>
            <a:ext cx="2496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TFLite model to 50+ species with training data from North-East Indian indigenous flora.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724912" cy="1627632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8094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6696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Caching (Room DB)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2496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Firebase drug records locally using Room so the app remains usable without internet.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2834640"/>
            <a:ext cx="2724912" cy="1627632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298094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95344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Security Rules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5848" y="3493008"/>
            <a:ext cx="2496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database access rules to restrict unauthorized reads/writes and protect community data.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17336" y="2834640"/>
            <a:ext cx="2724912" cy="1627632"/>
          </a:xfrm>
          <a:prstGeom prst="rect">
            <a:avLst/>
          </a:prstGeom>
          <a:solidFill>
            <a:srgbClr val="F9FDF6"/>
          </a:solidFill>
          <a:ln w="6350">
            <a:solidFill>
              <a:srgbClr val="C5D9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2980944"/>
            <a:ext cx="420624" cy="420624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93992" y="29992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Loop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54496" y="3493008"/>
            <a:ext cx="24963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flag incorrect predictions, building a feedback dataset to retrain and improve accuracy.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583680" y="731520"/>
            <a:ext cx="292608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2C5F2D">
              <a:alpha val="35000"/>
            </a:srgbClr>
          </a:solidFill>
          <a:ln w="12700">
            <a:solidFill>
              <a:srgbClr val="2C5F2D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Arogya Mitra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182880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how modern mobile technology can preserve and democratise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 medicinal plant knowledge for the next generation.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9748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883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leaf identification (31 species, 85–95% accuracy)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81528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4400" y="30723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Firebase-powered community drug database with validation pipeline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65576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4400" y="345643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(English + Assamese) for North-East India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49624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4400" y="38404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subscription &amp; admin system — 19 screens, 43 source files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Vibhu et al.  •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Arogya Mitra – Indigenous Medicine Portal</dc:title>
  <dc:subject>PptxGenJS Presentation</dc:subject>
  <dc:creator>Vibhu et al.</dc:creator>
  <cp:lastModifiedBy>Vibhu et al.</cp:lastModifiedBy>
  <cp:revision>1</cp:revision>
  <dcterms:created xsi:type="dcterms:W3CDTF">2026-05-27T09:41:38Z</dcterms:created>
  <dcterms:modified xsi:type="dcterms:W3CDTF">2026-05-27T09:41:38Z</dcterms:modified>
</cp:coreProperties>
</file>